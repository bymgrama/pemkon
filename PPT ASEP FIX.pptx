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6" r:id="rId7"/>
    <p:sldId id="267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Platypi Medium" panose="020B0604020202020204" charset="0"/>
      <p:regular r:id="rId13"/>
    </p:embeddedFont>
    <p:embeddedFont>
      <p:font typeface="Source Serif 4" panose="020B0604020202020204" charset="0"/>
      <p:regular r:id="rId14"/>
    </p:embeddedFont>
    <p:embeddedFont>
      <p:font typeface="Source Serif 4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18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7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5618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884C2-2D5E-9A72-E567-2535935E0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F26F68-D06A-D428-6576-299F1A0E65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03AFF3-0BF7-26ED-EC1C-694596239D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829C6F-5DB7-958E-1702-19FDE6EAE0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1630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38F06-69BE-967A-0469-0679B1729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CB19C1-A20C-30A1-52BF-23B60C1A19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4D92C9-6A99-4916-D340-899933F85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0B386-12D3-0C9C-2C28-7794D00E06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792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3959" y="827395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ASEP-STM32: Adaptive Safety-Embedded Programming Framework</a:t>
            </a:r>
            <a:endParaRPr lang="en-US" sz="2750" dirty="0"/>
          </a:p>
        </p:txBody>
      </p:sp>
      <p:sp>
        <p:nvSpPr>
          <p:cNvPr id="6" name="Text 2"/>
          <p:cNvSpPr/>
          <p:nvPr/>
        </p:nvSpPr>
        <p:spPr>
          <a:xfrm>
            <a:off x="2210618" y="275693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Alternatif Pengganti RTOS yang Hemat Memori dan Determinis Berbasis 3-Zone Adaptive ADC Threshold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2010184" y="321320"/>
            <a:ext cx="5123631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Latar Belakang &amp; Akar Masalah</a:t>
            </a:r>
            <a:endParaRPr lang="en-US" sz="23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3959" y="1048196"/>
            <a:ext cx="4722763" cy="867817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454979" y="1182067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Threshold Kaku</a:t>
            </a:r>
            <a:endParaRPr lang="en-US" sz="1150" dirty="0"/>
          </a:p>
        </p:txBody>
      </p:sp>
      <p:sp>
        <p:nvSpPr>
          <p:cNvPr id="8" name="Text 3"/>
          <p:cNvSpPr/>
          <p:nvPr/>
        </p:nvSpPr>
        <p:spPr>
          <a:xfrm>
            <a:off x="2454979" y="1429419"/>
            <a:ext cx="43978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Sistem safety embedded konvensional umumnya menggunakan fixed single-threshold atau dual-threshold ADC yang kaku.</a:t>
            </a:r>
            <a:endParaRPr lang="en-US" sz="9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3959" y="2016918"/>
            <a:ext cx="4722763" cy="86781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454979" y="2150789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Masalah Chattering</a:t>
            </a:r>
            <a:endParaRPr lang="en-US" sz="1150" dirty="0"/>
          </a:p>
        </p:txBody>
      </p:sp>
      <p:sp>
        <p:nvSpPr>
          <p:cNvPr id="11" name="Text 5"/>
          <p:cNvSpPr/>
          <p:nvPr/>
        </p:nvSpPr>
        <p:spPr>
          <a:xfrm>
            <a:off x="2454979" y="2398142"/>
            <a:ext cx="43978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Ketika nilai sensor berfluktuasi tipis di batas threshold, aktuator akan ON-OFF terus-menerus dan cepat rusak.</a:t>
            </a:r>
            <a:endParaRPr lang="en-US" sz="9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3959" y="2985641"/>
            <a:ext cx="4722763" cy="867817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454979" y="3119511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False Shutdown</a:t>
            </a:r>
            <a:endParaRPr lang="en-US" sz="1150" dirty="0"/>
          </a:p>
        </p:txBody>
      </p:sp>
      <p:sp>
        <p:nvSpPr>
          <p:cNvPr id="14" name="Text 7"/>
          <p:cNvSpPr/>
          <p:nvPr/>
        </p:nvSpPr>
        <p:spPr>
          <a:xfrm>
            <a:off x="2454979" y="3366864"/>
            <a:ext cx="43978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Lonjakan noise sesaat dapat memicu penghentian paksa sistem (shutdown) meskipun kondisi aktual masih aman.</a:t>
            </a:r>
            <a:endParaRPr lang="en-US" sz="9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3959" y="3954363"/>
            <a:ext cx="4722763" cy="867817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454979" y="4088234"/>
            <a:ext cx="174277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Keterbatasan Hardware</a:t>
            </a:r>
            <a:endParaRPr lang="en-US" sz="1150" dirty="0"/>
          </a:p>
        </p:txBody>
      </p:sp>
      <p:sp>
        <p:nvSpPr>
          <p:cNvPr id="17" name="Text 9"/>
          <p:cNvSpPr/>
          <p:nvPr/>
        </p:nvSpPr>
        <p:spPr>
          <a:xfrm>
            <a:off x="2454979" y="4335586"/>
            <a:ext cx="4397871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ADC STM32 secara struktural memiliki limitasi untuk adaptasi zona dinamis (Stop-Reconfigure-Start) yang menimbulkan latensi kritis.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DFDF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10200" y="1"/>
            <a:ext cx="37338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6119" y="400794"/>
            <a:ext cx="4722763" cy="719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Solusi — Framework ASEP-STM32</a:t>
            </a:r>
            <a:endParaRPr lang="en-US" sz="2250" dirty="0"/>
          </a:p>
        </p:txBody>
      </p:sp>
      <p:sp>
        <p:nvSpPr>
          <p:cNvPr id="6" name="Shape 2"/>
          <p:cNvSpPr/>
          <p:nvPr/>
        </p:nvSpPr>
        <p:spPr>
          <a:xfrm>
            <a:off x="496119" y="1261021"/>
            <a:ext cx="4722763" cy="800249"/>
          </a:xfrm>
          <a:prstGeom prst="roundRect">
            <a:avLst>
              <a:gd name="adj" fmla="val 2159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11237" y="1376139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Bare-metal Murni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11237" y="1612181"/>
            <a:ext cx="4492526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Kami mengusulkan solusi di level software murni: Framework Bare-metal (tanpa RTOS) pada chip STM32F401VE.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96119" y="2154808"/>
            <a:ext cx="4722763" cy="800249"/>
          </a:xfrm>
          <a:prstGeom prst="roundRect">
            <a:avLst>
              <a:gd name="adj" fmla="val 2159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11237" y="2269927"/>
            <a:ext cx="1517079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3-Zone Adaptive ADC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11237" y="2505968"/>
            <a:ext cx="4492526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Mengganti logika kaku dengan </a:t>
            </a:r>
            <a:r>
              <a:rPr lang="en-US" sz="9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3-Zone Adaptive ADC Threshold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menggunakan resolusi 12-bit (presisi 0.806 mV per step).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11237" y="3399755"/>
            <a:ext cx="4492526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96118" y="3333600"/>
            <a:ext cx="4722763" cy="800249"/>
          </a:xfrm>
          <a:prstGeom prst="roundRect">
            <a:avLst>
              <a:gd name="adj" fmla="val 2159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88553" y="3426297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Keamanan Berlapis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68796" y="3674886"/>
            <a:ext cx="4492526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Dilengkapi sistem keamanan lapis tambahan: Independent Watchdog (IWDG) dan Stack Sentinel untuk mencegah kegagalan firmware.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60884"/>
            <a:ext cx="794414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Pembagian Zona ADC &amp; Dasar Matematika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487388"/>
            <a:ext cx="8151763" cy="1649611"/>
          </a:xfrm>
          <a:prstGeom prst="roundRect">
            <a:avLst>
              <a:gd name="adj" fmla="val 128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2789" y="1581969"/>
            <a:ext cx="163688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Mode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10755" y="1581969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Rentang ADC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739158" y="1581969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Persentase RV1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204743" y="1581969"/>
            <a:ext cx="212303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Tindakan Sistem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58856" y="1581969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Status LED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2789" y="1993181"/>
            <a:ext cx="163688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INFO (Normal)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10755" y="1993181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 – 1638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39158" y="1993181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0% – 40%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04743" y="1993181"/>
            <a:ext cx="212303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PWM stabil 50%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58856" y="1993181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Menyala terus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2789" y="2404393"/>
            <a:ext cx="163688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WARN (Warning)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10755" y="2404393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1639 – 2867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39158" y="2404393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41% – 70%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04743" y="2404393"/>
            <a:ext cx="212303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Respons adaptif PID-lite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58856" y="2404393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Berkedip lambat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2789" y="2815605"/>
            <a:ext cx="163688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CRIT (Critical)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10755" y="2815605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2868 – 4095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39158" y="2815605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71% – 100%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04743" y="2815605"/>
            <a:ext cx="212303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0% PWM (Hard-Stop)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58856" y="2815605"/>
            <a:ext cx="17997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Mati total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94022" y="3296469"/>
            <a:ext cx="4107135" cy="1086148"/>
          </a:xfrm>
          <a:prstGeom prst="roundRect">
            <a:avLst>
              <a:gd name="adj" fmla="val 1958"/>
            </a:avLst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5781" y="343822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Batas Zona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35781" y="3801442"/>
            <a:ext cx="382361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Batas bawah (1638) &amp; batas atas (2867) dihitung dari 40% &amp; 70% nilai maksimum ADC 12-bit (4095).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49701" y="343822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Setpoint Netral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749701" y="3801442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Setpoint netral diatur pada nilai tengah 2048 (1.65 V) sebagai titik keseimbangan kontrol.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13556"/>
            <a:ext cx="613834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Alur Kerja Algoritma (Flowchart)</a:t>
            </a:r>
            <a:endParaRPr lang="en-US" sz="27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BD4C024-3CB2-1BCF-5708-67B0B87D7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000" y="1156543"/>
            <a:ext cx="2891200" cy="36664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C2609-C591-3236-6023-92C8C0268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CE66817-500D-F5C2-8362-E653CF61C6F8}"/>
              </a:ext>
            </a:extLst>
          </p:cNvPr>
          <p:cNvSpPr/>
          <p:nvPr/>
        </p:nvSpPr>
        <p:spPr>
          <a:xfrm>
            <a:off x="496119" y="713556"/>
            <a:ext cx="613834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id-ID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Diagram Blok</a:t>
            </a:r>
            <a:endParaRPr lang="en-US" sz="27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8B77CC-B02C-B1DA-FC50-0B4DA5489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79" y="1608772"/>
            <a:ext cx="7752806" cy="192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688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D077A-C49C-4A73-B62D-95D5295E6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8F47B18-C6AB-7DFF-BDD0-33F74E9353B5}"/>
              </a:ext>
            </a:extLst>
          </p:cNvPr>
          <p:cNvSpPr/>
          <p:nvPr/>
        </p:nvSpPr>
        <p:spPr>
          <a:xfrm>
            <a:off x="496119" y="713556"/>
            <a:ext cx="613834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id-ID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Hasil Simulasi Proteus</a:t>
            </a:r>
            <a:endParaRPr lang="en-US" sz="27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69E0B3-2A1F-2012-35F6-33C3C69A1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2092" y="1144006"/>
            <a:ext cx="3424738" cy="19254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66C960-399B-F29A-9D45-A8519808B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896" y="1156543"/>
            <a:ext cx="3424738" cy="19353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50EA50-A5ED-0229-15C0-8720F7E8E9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7217" y="3225026"/>
            <a:ext cx="3105284" cy="174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907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37828"/>
            <a:ext cx="842568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Keunggulan Kompetitif &amp; Perbandingan Jujur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564332"/>
            <a:ext cx="8151763" cy="2741265"/>
          </a:xfrm>
          <a:prstGeom prst="roundRect">
            <a:avLst>
              <a:gd name="adj" fmla="val 77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2714" y="1658913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Parameter Evaluasi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087737" y="1658913"/>
            <a:ext cx="3018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FreeRTOS (Fungsi Setara)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37498" y="1658913"/>
            <a:ext cx="30210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ASEP-STM32 (Proyek Kami)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9874" y="2179647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Determinisme Respons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34537" y="2118122"/>
            <a:ext cx="25614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Pseudo-realtime (bergantung penjadwalan)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48480" y="2183519"/>
            <a:ext cx="30210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Deterministik Mutlak O(1)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9874" y="2855267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Ketergantungan 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33457" y="2911970"/>
            <a:ext cx="25614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Membutuhkan kernel scheduler RTOS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52650" y="2855267"/>
            <a:ext cx="256386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Bare-metal murni (Agnostik STM32 HAL C)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6119" y="400124"/>
            <a:ext cx="4722763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Hasil Grafis GNUPlot (Pembuktian Visual)</a:t>
            </a:r>
            <a:endParaRPr lang="en-US" sz="25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4854889-AEC6-CADB-2273-D9952B3045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607" y="1441450"/>
            <a:ext cx="3014133" cy="2260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84EE910-3254-53F7-4EBC-FB895DEC9B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3833" y="1244253"/>
            <a:ext cx="3733138" cy="24887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25119" y="400124"/>
            <a:ext cx="4722763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Landasan Ilmiah (Jurnal Referensi)</a:t>
            </a:r>
            <a:endParaRPr lang="en-US" sz="25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397571"/>
            <a:ext cx="4722763" cy="116882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582641" y="1542529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Puglisi et al. (2026)</a:t>
            </a:r>
            <a:endParaRPr lang="en-US" sz="1250" dirty="0"/>
          </a:p>
        </p:txBody>
      </p:sp>
      <p:sp>
        <p:nvSpPr>
          <p:cNvPr id="8" name="Text 3"/>
          <p:cNvSpPr/>
          <p:nvPr/>
        </p:nvSpPr>
        <p:spPr>
          <a:xfrm>
            <a:off x="4582641" y="1818903"/>
            <a:ext cx="3920282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Membuktikan secara eksperimental bahwa bare-metal STM32 memiliki respons yang lebih deterministik dibandingkan sistem berbasis RTOS untuk penanganan real-time sederhana.</a:t>
            </a:r>
            <a:endParaRPr lang="en-US" sz="10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686869"/>
            <a:ext cx="4722763" cy="96797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582641" y="2831827"/>
            <a:ext cx="1839888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Kanoun &amp; Kallel (2024)</a:t>
            </a:r>
            <a:endParaRPr lang="en-US" sz="1250" dirty="0"/>
          </a:p>
        </p:txBody>
      </p:sp>
      <p:sp>
        <p:nvSpPr>
          <p:cNvPr id="11" name="Text 5"/>
          <p:cNvSpPr/>
          <p:nvPr/>
        </p:nvSpPr>
        <p:spPr>
          <a:xfrm>
            <a:off x="4582641" y="3108201"/>
            <a:ext cx="392028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Memvalidasi akurasi pembacaan ADC polling pada STM32 yang stabil dengan deviasi RMS sangat kecil (259 ppm).</a:t>
            </a:r>
            <a:endParaRPr lang="en-US" sz="10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3775323"/>
            <a:ext cx="4722763" cy="96797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582641" y="3920282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Tinoco et al. (2025)</a:t>
            </a:r>
            <a:endParaRPr lang="en-US" sz="1250" dirty="0"/>
          </a:p>
        </p:txBody>
      </p:sp>
      <p:sp>
        <p:nvSpPr>
          <p:cNvPr id="14" name="Text 7"/>
          <p:cNvSpPr/>
          <p:nvPr/>
        </p:nvSpPr>
        <p:spPr>
          <a:xfrm>
            <a:off x="4582641" y="4196655"/>
            <a:ext cx="392028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Mendukung konsep kontroler hybrid ringan (penggabungan state machine dan PID-lite).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427</Words>
  <Application>Microsoft Office PowerPoint</Application>
  <PresentationFormat>On-screen Show (16:9)</PresentationFormat>
  <Paragraphs>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Source Serif 4 Bold</vt:lpstr>
      <vt:lpstr>Source Serif 4</vt:lpstr>
      <vt:lpstr>Platypi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U-ser</dc:creator>
  <cp:lastModifiedBy>Hernawagani Suratama</cp:lastModifiedBy>
  <cp:revision>3</cp:revision>
  <dcterms:created xsi:type="dcterms:W3CDTF">2026-06-25T20:30:51Z</dcterms:created>
  <dcterms:modified xsi:type="dcterms:W3CDTF">2026-06-26T03:08:10Z</dcterms:modified>
</cp:coreProperties>
</file>